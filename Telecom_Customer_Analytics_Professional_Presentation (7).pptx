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58200" y="0"/>
            <a:ext cx="960120" cy="685800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464040" y="0"/>
            <a:ext cx="685800" cy="68580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195560" y="0"/>
            <a:ext cx="457200" cy="6858000"/>
          </a:xfrm>
          <a:prstGeom prst="rect">
            <a:avLst/>
          </a:prstGeom>
          <a:solidFill>
            <a:srgbClr val="DA9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TELECOM CUSTOMER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CFDCEC"/>
                </a:solidFill>
                <a:latin typeface="Aptos"/>
              </a:rPr>
              <a:t>Customer Retention, Usage &amp; Plan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Power BI  |  SQL  |  Python  |  DAX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2C4D8"/>
                </a:solidFill>
                <a:latin typeface="Aptos"/>
              </a:rPr>
              <a:t>Portfolio Presentation  •  100,000 Customer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7"/>
                </a:solidFill>
                <a:latin typeface="Aptos"/>
              </a:rPr>
              <a:t>What the analysis tells the business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132588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TOTAL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100K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Customer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73152" cy="1325880"/>
          </a:xfrm>
          <a:prstGeom prst="rect">
            <a:avLst/>
          </a:prstGeom>
          <a:solidFill>
            <a:srgbClr val="2B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5544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ACTIVE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9202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81.96K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3317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81.96% of 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1371600"/>
            <a:ext cx="73152" cy="1325880"/>
          </a:xfrm>
          <a:prstGeom prst="rect">
            <a:avLst/>
          </a:prstGeom>
          <a:solidFill>
            <a:srgbClr val="C7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5544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DEACTIVATED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202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18.04K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3317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18.04% of 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32520" y="1371600"/>
            <a:ext cx="73152" cy="1325880"/>
          </a:xfrm>
          <a:prstGeom prst="rect">
            <a:avLst/>
          </a:prstGeom>
          <a:solidFill>
            <a:srgbClr val="C7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0" y="15544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DEACTIVATION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19202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18.04%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3317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Retention 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108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KEY BUSINESS TAKEAWAYS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6616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Retention is the primary opportunity: 18.04% of customers are deactivated.</a:t>
            </a:r>
          </a:p>
          <a:p>
            <a:pPr>
              <a:spcAft>
                <a:spcPts val="8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Prepaid customers represent approximately 72% of the customer base.</a:t>
            </a:r>
          </a:p>
          <a:p>
            <a:pPr>
              <a:spcAft>
                <a:spcPts val="8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Postpaid customers show materially higher recharge and data usage.</a:t>
            </a:r>
          </a:p>
          <a:p>
            <a:pPr>
              <a:spcAft>
                <a:spcPts val="8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Inactive and Customer Request are the two largest deactivation reasons.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108960"/>
            <a:ext cx="4937760" cy="251460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0840" y="340156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BUSINESS 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840480"/>
            <a:ext cx="4160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303D"/>
                </a:solidFill>
                <a:latin typeface="Aptos"/>
              </a:rPr>
              <a:t>The customer base is large and predominantly prepaid, but an 18.04% deactivation rate creates a clear retention and reactivation opportunity.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212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89691"/>
                </a:solidFill>
                <a:latin typeface="Aptos"/>
              </a:rPr>
              <a:t>Focus: retain → reactivate → upgrade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687"/>
                </a:solidFill>
                <a:latin typeface="Aptos"/>
              </a:rPr>
              <a:t>Telecom Customer Analytics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Data &amp; Analytical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7"/>
                </a:solidFill>
                <a:latin typeface="Aptos"/>
              </a:rPr>
              <a:t>From raw customer records to actionable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4231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91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63B2"/>
                </a:solidFill>
                <a:latin typeface="Aptos"/>
              </a:rPr>
              <a:t>01 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303D"/>
                </a:solidFill>
                <a:latin typeface="Aptos"/>
              </a:rPr>
              <a:t>100,000 rows
15 attributes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417320"/>
            <a:ext cx="24231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691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9691"/>
                </a:solidFill>
                <a:latin typeface="Aptos"/>
              </a:rPr>
              <a:t>02 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2402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303D"/>
                </a:solidFill>
                <a:latin typeface="Aptos"/>
              </a:rPr>
              <a:t>Missing values
Duplicates • 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24231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691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A9E2D"/>
                </a:solidFill>
                <a:latin typeface="Aptos"/>
              </a:rPr>
              <a:t>03  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303D"/>
                </a:solidFill>
                <a:latin typeface="Aptos"/>
              </a:rPr>
              <a:t>SQL • Python
Power BI • DAX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59" y="1417320"/>
            <a:ext cx="242316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64039" y="1691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915B"/>
                </a:solidFill>
                <a:latin typeface="Aptos"/>
              </a:rPr>
              <a:t>04  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39" y="22402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6303D"/>
                </a:solidFill>
                <a:latin typeface="Aptos"/>
              </a:rPr>
              <a:t>Retention
Reactivation • Upsell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KEY DATA-QUALITY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303D"/>
                </a:solidFill>
                <a:latin typeface="Aptos"/>
              </a:defRPr>
            </a:pPr>
            <a:r>
              <a:t>• 0 complete duplicate rows were found, so no valid customer records were removed for duplication.</a:t>
            </a:r>
          </a:p>
          <a:p>
            <a:pPr>
              <a:spcAft>
                <a:spcPts val="800"/>
              </a:spcAft>
              <a:defRPr sz="1300">
                <a:solidFill>
                  <a:srgbClr val="26303D"/>
                </a:solidFill>
                <a:latin typeface="Aptos"/>
              </a:defRPr>
            </a:pPr>
            <a:r>
              <a:t>• Blank Deactivation_Date values were retained for Active customers.</a:t>
            </a:r>
          </a:p>
          <a:p>
            <a:pPr>
              <a:spcAft>
                <a:spcPts val="800"/>
              </a:spcAft>
              <a:defRPr sz="1300">
                <a:solidFill>
                  <a:srgbClr val="26303D"/>
                </a:solidFill>
                <a:latin typeface="Aptos"/>
              </a:defRPr>
            </a:pPr>
            <a:r>
              <a:t>• Missing Recharge_Amount and Monthly_Data_Usage_GB values were retained as nulls rather than deleting valid customers.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687"/>
                </a:solidFill>
                <a:latin typeface="Aptos"/>
              </a:rPr>
              <a:t>Telecom Customer Analytics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Customer Base &amp; Plan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7"/>
                </a:solidFill>
                <a:latin typeface="Aptos"/>
              </a:rPr>
              <a:t>Scale and composition of the customer population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132588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PREPAID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72,001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~72.0% of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37160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1371600"/>
            <a:ext cx="73152" cy="132588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POSTPAID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27,999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331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~28.0% of 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371600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0" y="1371600"/>
            <a:ext cx="73152" cy="1325880"/>
          </a:xfrm>
          <a:prstGeom prst="rect">
            <a:avLst/>
          </a:prstGeom>
          <a:solidFill>
            <a:srgbClr val="DA9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AVERAGE 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46.53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371600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8280" y="1371600"/>
            <a:ext cx="73152" cy="132588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AVG. TENURE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635.65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PLAN MIX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657600"/>
            <a:ext cx="7498079" cy="548640"/>
          </a:xfrm>
          <a:prstGeom prst="round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1520" y="3657600"/>
            <a:ext cx="5394960" cy="548640"/>
          </a:xfrm>
          <a:prstGeom prst="round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26480" y="3657600"/>
            <a:ext cx="2103120" cy="548640"/>
          </a:xfrm>
          <a:prstGeom prst="round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38039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Prepaid  •  72.0%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80390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Postpaid  •  28.0%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Business implication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749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303D"/>
                </a:solidFill>
                <a:latin typeface="Aptos"/>
              </a:rPr>
              <a:t>Because prepaid dominates the base, retention and engagement programs should be designed for scale, while high-value/high-usage prepaid customers can be prioritized for upgrades.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687"/>
                </a:solidFill>
                <a:latin typeface="Aptos"/>
              </a:rPr>
              <a:t>Telecom Customer Analytics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Customer Value &amp;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7"/>
                </a:solidFill>
                <a:latin typeface="Aptos"/>
              </a:rPr>
              <a:t>Postpaid customers show stronger value and consumption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141732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AVG. RECHARGE — POSTPAID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₹901.37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Higher customer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371600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0" y="1371600"/>
            <a:ext cx="73152" cy="141732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69080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AVG. RECHARGE — PREPAID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₹351.00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4231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Lower average recharge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137160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40880" y="1371600"/>
            <a:ext cx="73152" cy="141732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1554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POSTPAID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1920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30.27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4231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Monthly average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371600"/>
            <a:ext cx="2103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0" y="1371600"/>
            <a:ext cx="73152" cy="141732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55480" y="1554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PREPAID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920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12.08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4231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Monthly average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37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WHAT THIS MEANS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9476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03D"/>
                </a:solidFill>
                <a:latin typeface="Aptos"/>
              </a:defRPr>
            </a:pPr>
            <a:r>
              <a:t>• Postpaid customers exhibit materially higher average recharge value.</a:t>
            </a:r>
          </a:p>
          <a:p>
            <a:pPr>
              <a:spcAft>
                <a:spcPts val="800"/>
              </a:spcAft>
              <a:defRPr sz="1500">
                <a:solidFill>
                  <a:srgbClr val="26303D"/>
                </a:solidFill>
                <a:latin typeface="Aptos"/>
              </a:defRPr>
            </a:pPr>
            <a:r>
              <a:t>• Postpaid customers also consume substantially more monthly data.</a:t>
            </a:r>
          </a:p>
          <a:p>
            <a:pPr>
              <a:spcAft>
                <a:spcPts val="800"/>
              </a:spcAft>
              <a:defRPr sz="1500">
                <a:solidFill>
                  <a:srgbClr val="26303D"/>
                </a:solidFill>
                <a:latin typeface="Aptos"/>
              </a:defRPr>
            </a:pPr>
            <a:r>
              <a:t>• High-usage prepaid customers are a logical target for premium/postpaid upgrade offers.</a:t>
            </a:r>
          </a:p>
          <a:p>
            <a:pPr>
              <a:spcAft>
                <a:spcPts val="800"/>
              </a:spcAft>
              <a:defRPr sz="1500">
                <a:solidFill>
                  <a:srgbClr val="26303D"/>
                </a:solidFill>
                <a:latin typeface="Aptos"/>
              </a:defRPr>
            </a:pPr>
            <a:r>
              <a:t>• High-value postpaid customers should receive loyalty and retention treatment.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687"/>
                </a:solidFill>
                <a:latin typeface="Aptos"/>
              </a:rPr>
              <a:t>Telecom Customer Analytics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Deactivation &amp;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7"/>
                </a:solidFill>
                <a:latin typeface="Aptos"/>
              </a:rPr>
              <a:t>Where customer loss is concentrated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834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325880"/>
          </a:xfrm>
          <a:prstGeom prst="rect">
            <a:avLst/>
          </a:prstGeom>
          <a:solidFill>
            <a:srgbClr val="C7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DEACTIVATED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18,036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18.04% of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325880"/>
            <a:ext cx="2834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0" y="1325880"/>
            <a:ext cx="73152" cy="1325880"/>
          </a:xfrm>
          <a:prstGeom prst="rect">
            <a:avLst/>
          </a:prstGeom>
          <a:solidFill>
            <a:srgbClr val="C7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TOP REASON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8745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Inactive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86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5,468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325880"/>
            <a:ext cx="2834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75120" y="1325880"/>
            <a:ext cx="73152" cy="1325880"/>
          </a:xfrm>
          <a:prstGeom prst="rect">
            <a:avLst/>
          </a:prstGeom>
          <a:solidFill>
            <a:srgbClr val="DA9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687"/>
                </a:solidFill>
                <a:latin typeface="Aptos"/>
              </a:rPr>
              <a:t>2ND REASON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87451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2233A"/>
                </a:solidFill>
                <a:latin typeface="Aptos"/>
              </a:rPr>
              <a:t>Customer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2860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687"/>
                </a:solidFill>
                <a:latin typeface="Aptos"/>
              </a:rPr>
              <a:t>5,372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971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DEACTIVATION REASONS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5643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D"/>
                </a:solidFill>
                <a:latin typeface="Aptos"/>
              </a:rPr>
              <a:t>Inactive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3474720"/>
            <a:ext cx="5486400" cy="2286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148840" y="3474720"/>
            <a:ext cx="5486400" cy="228600"/>
          </a:xfrm>
          <a:prstGeom prst="rect">
            <a:avLst/>
          </a:prstGeom>
          <a:solidFill>
            <a:srgbClr val="C7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20" y="34564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233A"/>
                </a:solidFill>
                <a:latin typeface="Aptos"/>
              </a:rPr>
              <a:t>5,468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13631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D"/>
                </a:solidFill>
                <a:latin typeface="Aptos"/>
              </a:rPr>
              <a:t>Customer Request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3931919"/>
            <a:ext cx="5486400" cy="2286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48840" y="3931919"/>
            <a:ext cx="5390076" cy="228600"/>
          </a:xfrm>
          <a:prstGeom prst="rect">
            <a:avLst/>
          </a:prstGeom>
          <a:solidFill>
            <a:srgbClr val="DA9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20" y="3913631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233A"/>
                </a:solidFill>
                <a:latin typeface="Aptos"/>
              </a:rPr>
              <a:t>5,372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70831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D"/>
                </a:solidFill>
                <a:latin typeface="Aptos"/>
              </a:rPr>
              <a:t>Port 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4389119"/>
            <a:ext cx="5486400" cy="2286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148840" y="4389119"/>
            <a:ext cx="3605090" cy="22860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18120" y="4370831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233A"/>
                </a:solidFill>
                <a:latin typeface="Aptos"/>
              </a:rPr>
              <a:t>3,593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28031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D"/>
                </a:solidFill>
                <a:latin typeface="Aptos"/>
              </a:rPr>
              <a:t>KYC Failure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8840" y="4846319"/>
            <a:ext cx="5486400" cy="2286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148840" y="4846319"/>
            <a:ext cx="1823114" cy="2286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18120" y="4828031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233A"/>
                </a:solidFill>
                <a:latin typeface="Aptos"/>
              </a:rPr>
              <a:t>1,817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285231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303D"/>
                </a:solidFill>
                <a:latin typeface="Aptos"/>
              </a:rPr>
              <a:t>Fraud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5303519"/>
            <a:ext cx="5486400" cy="2286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148840" y="5303519"/>
            <a:ext cx="1792009" cy="228600"/>
          </a:xfrm>
          <a:prstGeom prst="rect">
            <a:avLst/>
          </a:prstGeom>
          <a:solidFill>
            <a:srgbClr val="697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18120" y="5285231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233A"/>
                </a:solidFill>
                <a:latin typeface="Aptos"/>
              </a:rPr>
              <a:t>1,786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3337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74343"/>
                </a:solidFill>
                <a:latin typeface="Aptos"/>
              </a:rPr>
              <a:t>~60.1%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840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6303D"/>
                </a:solidFill>
                <a:latin typeface="Aptos"/>
              </a:rPr>
              <a:t>Inactive + Customer Request
of all deactivations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687"/>
                </a:solidFill>
                <a:latin typeface="Aptos"/>
              </a:rPr>
              <a:t>Telecom Customer Analytics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7"/>
                </a:solidFill>
                <a:latin typeface="Aptos"/>
              </a:rPr>
              <a:t>Actions directly tied to the KPIs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0759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33A"/>
                </a:solidFill>
                <a:latin typeface="Aptos"/>
              </a:rPr>
              <a:t>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30759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3D"/>
                </a:solidFill>
                <a:latin typeface="Aptos"/>
              </a:rPr>
              <a:t>Use inactivity, recharge decline, usage and tenure signals to identify customers at risk.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258568"/>
            <a:ext cx="502920" cy="502920"/>
          </a:xfrm>
          <a:prstGeom prst="ellipse">
            <a:avLst/>
          </a:prstGeom>
          <a:solidFill>
            <a:srgbClr val="C7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39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40279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33A"/>
                </a:solidFill>
                <a:latin typeface="Aptos"/>
              </a:rPr>
              <a:t>REACTIVATION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240279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3D"/>
                </a:solidFill>
                <a:latin typeface="Aptos"/>
              </a:rPr>
              <a:t>Target inactive customers with tailored win-back offers and engagement journeys.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191256"/>
            <a:ext cx="502920" cy="502920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1729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33A"/>
                </a:solidFill>
                <a:latin typeface="Aptos"/>
              </a:rPr>
              <a:t>UPSELL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172968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3D"/>
                </a:solidFill>
                <a:latin typeface="Aptos"/>
              </a:rPr>
              <a:t>Prioritize high-usage prepaid customers for premium/postpaid upgrade offers.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123944"/>
            <a:ext cx="502920" cy="502920"/>
          </a:xfrm>
          <a:prstGeom prst="ellipse">
            <a:avLst/>
          </a:prstGeom>
          <a:solidFill>
            <a:srgbClr val="DA9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24281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0565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33A"/>
                </a:solidFill>
                <a:latin typeface="Aptos"/>
              </a:rPr>
              <a:t>CUSTOMER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105656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3D"/>
                </a:solidFill>
                <a:latin typeface="Aptos"/>
              </a:rPr>
              <a:t>Investigate Customer Request deactivations to identify pricing, service or product issues.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5056632"/>
            <a:ext cx="502920" cy="502920"/>
          </a:xfrm>
          <a:prstGeom prst="ellipse">
            <a:avLst/>
          </a:prstGeom>
          <a:solidFill>
            <a:srgbClr val="2B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175504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03834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33A"/>
                </a:solidFill>
                <a:latin typeface="Aptos"/>
              </a:rPr>
              <a:t>COMPETITIVE RETENTION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503834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3D"/>
                </a:solidFill>
                <a:latin typeface="Aptos"/>
              </a:rPr>
              <a:t>Analyze Port Out customers separately to identify competitive churn patterns.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687"/>
                </a:solidFill>
                <a:latin typeface="Aptos"/>
              </a:rPr>
              <a:t>Telecom Customer Analytics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Technical Architecture &amp; KPI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7"/>
                </a:solidFill>
                <a:latin typeface="Aptos"/>
              </a:rPr>
              <a:t>How the solution was built and validated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874519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33A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303D"/>
                </a:solidFill>
                <a:latin typeface="Aptos"/>
              </a:rPr>
              <a:t>CSV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371600"/>
            <a:ext cx="1874519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79" y="16276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33A"/>
                </a:solidFill>
                <a:latin typeface="Aptos"/>
              </a:rP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0116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303D"/>
                </a:solidFill>
                <a:latin typeface="Aptos"/>
              </a:rPr>
              <a:t>Power Query
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1371600"/>
            <a:ext cx="1874519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57799" y="16276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33A"/>
                </a:solidFill>
                <a:latin typeface="Aptos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799" y="20116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303D"/>
                </a:solidFill>
                <a:latin typeface="Aptos"/>
              </a:rPr>
              <a:t>SQL + 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371600"/>
            <a:ext cx="1874519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19" y="16276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33A"/>
                </a:solidFill>
                <a:latin typeface="Aptos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20116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303D"/>
                </a:solidFill>
                <a:latin typeface="Aptos"/>
              </a:rPr>
              <a:t>Power BI + DAX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1371600"/>
            <a:ext cx="1874519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21240" y="162763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233A"/>
                </a:solidFill>
                <a:latin typeface="Aptos"/>
              </a:rPr>
              <a:t>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0116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303D"/>
                </a:solidFill>
                <a:latin typeface="Aptos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063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CORE DAX MEASURES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204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303D"/>
                </a:solidFill>
                <a:latin typeface="Aptos"/>
              </a:rPr>
              <a:t>Total Customers = DISTINCTCOUNT(Customer_ID)
Active Customers = CALCULATE([Total Customers], Status = "Active")
Deactivated Customers = CALCULATE([Total Customers], Status = "Deactivated")
Deactivation Rate = DIVIDE([Deactivated Customers],[Total Customers],0)
Average Recharge = AVERAGE(Recharge_Amount)
Average Data Usage = AVERAGE(Monthly_Data_Usage_GB)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QUALITY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52044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6303D"/>
                </a:solidFill>
                <a:latin typeface="Aptos"/>
              </a:defRPr>
            </a:pPr>
            <a:r>
              <a:t>• 100,000 rows before and after conservative cleaning.</a:t>
            </a:r>
          </a:p>
          <a:p>
            <a:pPr>
              <a:spcAft>
                <a:spcPts val="800"/>
              </a:spcAft>
              <a:defRPr sz="1200">
                <a:solidFill>
                  <a:srgbClr val="26303D"/>
                </a:solidFill>
                <a:latin typeface="Aptos"/>
              </a:defRPr>
            </a:pPr>
            <a:r>
              <a:t>• 0 complete duplicate rows.</a:t>
            </a:r>
          </a:p>
          <a:p>
            <a:pPr>
              <a:spcAft>
                <a:spcPts val="800"/>
              </a:spcAft>
              <a:defRPr sz="1200">
                <a:solidFill>
                  <a:srgbClr val="26303D"/>
                </a:solidFill>
                <a:latin typeface="Aptos"/>
              </a:defRPr>
            </a:pPr>
            <a:r>
              <a:t>• 1,000 missing recharge values retained as null.</a:t>
            </a:r>
          </a:p>
          <a:p>
            <a:pPr>
              <a:spcAft>
                <a:spcPts val="800"/>
              </a:spcAft>
              <a:defRPr sz="1200">
                <a:solidFill>
                  <a:srgbClr val="26303D"/>
                </a:solidFill>
                <a:latin typeface="Aptos"/>
              </a:defRPr>
            </a:pPr>
            <a:r>
              <a:t>• 1,000 missing data-usage values retained as null.</a:t>
            </a:r>
          </a:p>
          <a:p>
            <a:pPr>
              <a:spcAft>
                <a:spcPts val="800"/>
              </a:spcAft>
              <a:defRPr sz="1200">
                <a:solidFill>
                  <a:srgbClr val="26303D"/>
                </a:solidFill>
                <a:latin typeface="Aptos"/>
              </a:defRPr>
            </a:pPr>
            <a:r>
              <a:t>• Blank deactivation dates retained for active customers.</a:t>
            </a:r>
          </a:p>
          <a:p>
            <a:pPr>
              <a:spcAft>
                <a:spcPts val="800"/>
              </a:spcAft>
              <a:defRPr sz="1200">
                <a:solidFill>
                  <a:srgbClr val="26303D"/>
                </a:solidFill>
                <a:latin typeface="Aptos"/>
              </a:defRPr>
            </a:pPr>
            <a:r>
              <a:t>• Future-dated deactivation records flagged for validation.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687"/>
                </a:solidFill>
                <a:latin typeface="Aptos"/>
              </a:rPr>
              <a:t>Telecom Customer Analytics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236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A"/>
                </a:solidFill>
                <a:latin typeface="Aptos"/>
              </a:rP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7"/>
                </a:solidFill>
                <a:latin typeface="Aptos"/>
              </a:rPr>
              <a:t>What the current analysis can—and cannot—answer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No customer satisfaction/NPS or complaint data.</a:t>
            </a:r>
          </a:p>
          <a:p>
            <a:pPr>
              <a:spcAft>
                <a:spcPts val="8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No network quality or coverage metrics.</a:t>
            </a:r>
          </a:p>
          <a:p>
            <a:pPr>
              <a:spcAft>
                <a:spcPts val="8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No competitor pricing or offer data.</a:t>
            </a:r>
          </a:p>
          <a:p>
            <a:pPr>
              <a:spcAft>
                <a:spcPts val="8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No complete profitability/margin data.</a:t>
            </a:r>
          </a:p>
          <a:p>
            <a:pPr>
              <a:spcAft>
                <a:spcPts val="8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Deactivation reasons do not establish root cause.</a:t>
            </a:r>
          </a:p>
          <a:p>
            <a:pPr>
              <a:spcAft>
                <a:spcPts val="8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Analysis is descriptive; it does not prove causality.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233A"/>
                </a:solidFill>
                <a:latin typeface="Aptos"/>
              </a:rPr>
              <a:t>NEXT ANALYTICAL 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029200" cy="24688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33A"/>
                </a:solidFill>
                <a:latin typeface="Aptos"/>
              </a:rPr>
              <a:t>Build a churn-risk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9748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6303D"/>
                </a:solidFill>
                <a:latin typeface="Aptos"/>
              </a:rPr>
              <a:t>Use recharge, usage, tenure, plan type and engagement history to estimate customer-level deactivation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794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9691"/>
                </a:solidFill>
                <a:latin typeface="Aptos"/>
              </a:rPr>
              <a:t>Outcome: prioritize retention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233A"/>
                </a:solidFill>
                <a:latin typeface="Aptos"/>
              </a:rPr>
              <a:t>Additional data to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98348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6303D"/>
                </a:solidFill>
                <a:latin typeface="Aptos"/>
              </a:defRPr>
            </a:pPr>
            <a:r>
              <a:t>• Customer satisfaction</a:t>
            </a:r>
          </a:p>
          <a:p>
            <a:pPr>
              <a:spcAft>
                <a:spcPts val="800"/>
              </a:spcAft>
              <a:defRPr sz="1100">
                <a:solidFill>
                  <a:srgbClr val="26303D"/>
                </a:solidFill>
                <a:latin typeface="Aptos"/>
              </a:defRPr>
            </a:pPr>
            <a:r>
              <a:t>• Complaints</a:t>
            </a:r>
          </a:p>
          <a:p>
            <a:pPr>
              <a:spcAft>
                <a:spcPts val="800"/>
              </a:spcAft>
              <a:defRPr sz="1100">
                <a:solidFill>
                  <a:srgbClr val="26303D"/>
                </a:solidFill>
                <a:latin typeface="Aptos"/>
              </a:defRPr>
            </a:pPr>
            <a:r>
              <a:t>• Network quality</a:t>
            </a:r>
          </a:p>
          <a:p>
            <a:pPr>
              <a:spcAft>
                <a:spcPts val="800"/>
              </a:spcAft>
              <a:defRPr sz="1100">
                <a:solidFill>
                  <a:srgbClr val="26303D"/>
                </a:solidFill>
                <a:latin typeface="Aptos"/>
              </a:defRPr>
            </a:pPr>
            <a:r>
              <a:t>• Competitor offers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687"/>
                </a:solidFill>
                <a:latin typeface="Aptos"/>
              </a:rPr>
              <a:t>Telecom Customer Analytics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9784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1EBF6"/>
                </a:solidFill>
                <a:latin typeface="Aptos"/>
              </a:rPr>
              <a:t>The analysis identifies a clear retention opportunity and a measurable path to customer value growth.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3246120" cy="1234440"/>
          </a:xfrm>
          <a:prstGeom prst="roundRect">
            <a:avLst/>
          </a:prstGeom>
          <a:solidFill>
            <a:srgbClr val="23344E"/>
          </a:solidFill>
          <a:ln>
            <a:solidFill>
              <a:srgbClr val="C7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133087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74343"/>
                </a:solidFill>
                <a:latin typeface="Aptos"/>
              </a:rPr>
              <a:t>RETAIN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4456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18.04% deactivation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886200"/>
            <a:ext cx="3246120" cy="1234440"/>
          </a:xfrm>
          <a:prstGeom prst="roundRect">
            <a:avLst/>
          </a:prstGeom>
          <a:solidFill>
            <a:srgbClr val="23344E"/>
          </a:solidFill>
          <a:ln>
            <a:solidFill>
              <a:srgbClr val="DA9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4133087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A9E2D"/>
                </a:solidFill>
                <a:latin typeface="Aptos"/>
              </a:rPr>
              <a:t>REACTIVATE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54456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Inactive + Customer Request ≈ 60%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886200"/>
            <a:ext cx="3246120" cy="1234440"/>
          </a:xfrm>
          <a:prstGeom prst="roundRect">
            <a:avLst/>
          </a:prstGeom>
          <a:solidFill>
            <a:srgbClr val="23344E"/>
          </a:solidFill>
          <a:ln>
            <a:solidFill>
              <a:srgbClr val="18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4133087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9691"/>
                </a:solidFill>
                <a:latin typeface="Aptos"/>
              </a:rPr>
              <a:t>UPGRADE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54456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Target high-usage prepaid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Thank you  • 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897</Words>
  <Application>Microsoft Office PowerPoint</Application>
  <PresentationFormat>Widescreen</PresentationFormat>
  <Paragraphs>173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swathi</dc:creator>
  <cp:keywords/>
  <dc:description>generated using python-pptx</dc:description>
  <cp:lastModifiedBy>swathi</cp:lastModifiedBy>
  <cp:revision>1</cp:revision>
  <dcterms:created xsi:type="dcterms:W3CDTF">2013-01-27T09:14:16Z</dcterms:created>
  <dcterms:modified xsi:type="dcterms:W3CDTF">2026-08-10T19:22:34Z</dcterms:modified>
  <cp:category/>
</cp:coreProperties>
</file>